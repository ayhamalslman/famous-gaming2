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f673e7b7c415e" /><Relationship Type="http://schemas.openxmlformats.org/officeDocument/2006/relationships/extended-properties" Target="/docProps/app.xml" Id="R4ab1b39c3c1c4f0e" /><Relationship Type="http://schemas.openxmlformats.org/officeDocument/2006/relationships/officeDocument" Target="/ppt/presentation.xml" Id="R8ed496679b93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6f1495abf54a6e"/>
  </p:sldMasterIdLst>
  <p:notesMasterIdLst>
    <p:notesMasterId xmlns:r="http://schemas.openxmlformats.org/officeDocument/2006/relationships" r:id="R405354bce8fd4ae9"/>
  </p:notesMasterIdLst>
  <p:sldIdLst>
    <p:sldId xmlns:r="http://schemas.openxmlformats.org/officeDocument/2006/relationships" id="256" r:id="R6dc32fca94bb4d85"/>
    <p:sldId xmlns:r="http://schemas.openxmlformats.org/officeDocument/2006/relationships" id="257" r:id="R6db48ec66fb14da0"/>
    <p:sldId xmlns:r="http://schemas.openxmlformats.org/officeDocument/2006/relationships" id="258" r:id="R99372dc5ed7544fe"/>
    <p:sldId xmlns:r="http://schemas.openxmlformats.org/officeDocument/2006/relationships" id="259" r:id="R63cb201502c842dc"/>
    <p:sldId xmlns:r="http://schemas.openxmlformats.org/officeDocument/2006/relationships" id="260" r:id="Rc23eaff802d44a8c"/>
    <p:sldId xmlns:r="http://schemas.openxmlformats.org/officeDocument/2006/relationships" id="261" r:id="Re58895dbcd1c4fbd"/>
    <p:sldId xmlns:r="http://schemas.openxmlformats.org/officeDocument/2006/relationships" id="262" r:id="R357f51fa68414c52"/>
    <p:sldId xmlns:r="http://schemas.openxmlformats.org/officeDocument/2006/relationships" id="263" r:id="Rf42e1b0a579e4a38"/>
    <p:sldId xmlns:r="http://schemas.openxmlformats.org/officeDocument/2006/relationships" id="264" r:id="R7c1d320409c344eb"/>
    <p:sldId xmlns:r="http://schemas.openxmlformats.org/officeDocument/2006/relationships" id="265" r:id="Rcf8dba16b937449c"/>
    <p:sldId xmlns:r="http://schemas.openxmlformats.org/officeDocument/2006/relationships" id="266" r:id="Rd7bb5d8312db4603"/>
    <p:sldId xmlns:r="http://schemas.openxmlformats.org/officeDocument/2006/relationships" id="267" r:id="R85c841924b664050"/>
    <p:sldId xmlns:r="http://schemas.openxmlformats.org/officeDocument/2006/relationships" id="268" r:id="R2b7a909cd6474925"/>
    <p:sldId xmlns:r="http://schemas.openxmlformats.org/officeDocument/2006/relationships" id="269" r:id="Rca1d7703a1114a27"/>
    <p:sldId xmlns:r="http://schemas.openxmlformats.org/officeDocument/2006/relationships" id="270" r:id="R93dea553ff6943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f1495abf54a6e" /><Relationship Type="http://schemas.openxmlformats.org/officeDocument/2006/relationships/theme" Target="/ppt/theme/theme1.xml" Id="R57e34676db5b46d8" /><Relationship Type="http://schemas.openxmlformats.org/officeDocument/2006/relationships/notesMaster" Target="/ppt/notesMasters/notesMaster1.xml" Id="R405354bce8fd4ae9" /><Relationship Type="http://schemas.openxmlformats.org/officeDocument/2006/relationships/presProps" Target="/ppt/presProps.xml" Id="R2523ee2bb61f416c" /><Relationship Type="http://schemas.openxmlformats.org/officeDocument/2006/relationships/viewProps" Target="/ppt/viewProps.xml" Id="Ra85275a464414028" /><Relationship Type="http://schemas.openxmlformats.org/officeDocument/2006/relationships/tableStyles" Target="/ppt/tableStyles.xml" Id="R61ad216984f147d0" /><Relationship Type="http://schemas.openxmlformats.org/officeDocument/2006/relationships/slide" Target="/ppt/slides/slide1.xml" Id="R6dc32fca94bb4d85" /><Relationship Type="http://schemas.openxmlformats.org/officeDocument/2006/relationships/slide" Target="/ppt/slides/slide2.xml" Id="R6db48ec66fb14da0" /><Relationship Type="http://schemas.openxmlformats.org/officeDocument/2006/relationships/slide" Target="/ppt/slides/slide3.xml" Id="R99372dc5ed7544fe" /><Relationship Type="http://schemas.openxmlformats.org/officeDocument/2006/relationships/slide" Target="/ppt/slides/slide4.xml" Id="R63cb201502c842dc" /><Relationship Type="http://schemas.openxmlformats.org/officeDocument/2006/relationships/slide" Target="/ppt/slides/slide5.xml" Id="Rc23eaff802d44a8c" /><Relationship Type="http://schemas.openxmlformats.org/officeDocument/2006/relationships/slide" Target="/ppt/slides/slide6.xml" Id="Re58895dbcd1c4fbd" /><Relationship Type="http://schemas.openxmlformats.org/officeDocument/2006/relationships/slide" Target="/ppt/slides/slide7.xml" Id="R357f51fa68414c52" /><Relationship Type="http://schemas.openxmlformats.org/officeDocument/2006/relationships/slide" Target="/ppt/slides/slide8.xml" Id="Rf42e1b0a579e4a38" /><Relationship Type="http://schemas.openxmlformats.org/officeDocument/2006/relationships/slide" Target="/ppt/slides/slide9.xml" Id="R7c1d320409c344eb" /><Relationship Type="http://schemas.openxmlformats.org/officeDocument/2006/relationships/slide" Target="/ppt/slides/slide10.xml" Id="Rcf8dba16b937449c" /><Relationship Type="http://schemas.openxmlformats.org/officeDocument/2006/relationships/slide" Target="/ppt/slides/slide11.xml" Id="Rd7bb5d8312db4603" /><Relationship Type="http://schemas.openxmlformats.org/officeDocument/2006/relationships/slide" Target="/ppt/slides/slide12.xml" Id="R85c841924b664050" /><Relationship Type="http://schemas.openxmlformats.org/officeDocument/2006/relationships/slide" Target="/ppt/slides/slide13.xml" Id="R2b7a909cd6474925" /><Relationship Type="http://schemas.openxmlformats.org/officeDocument/2006/relationships/slide" Target="/ppt/slides/slide14.xml" Id="Rca1d7703a1114a27" /><Relationship Type="http://schemas.openxmlformats.org/officeDocument/2006/relationships/slide" Target="/ppt/slides/slide15.xml" Id="R93dea553ff6943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60e07c36ba43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68264656d74e9e" /><Relationship Type="http://schemas.openxmlformats.org/officeDocument/2006/relationships/notesMaster" Target="/ppt/notesMasters/notesMaster1.xml" Id="R55106b09613b42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e6b337075841b6" /><Relationship Type="http://schemas.openxmlformats.org/officeDocument/2006/relationships/notesMaster" Target="/ppt/notesMasters/notesMaster1.xml" Id="R9b8fe6cd179745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e80e1343c94b4a" /><Relationship Type="http://schemas.openxmlformats.org/officeDocument/2006/relationships/notesMaster" Target="/ppt/notesMasters/notesMaster1.xml" Id="R8c973d12870c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c17e0fbdab4ba0" /><Relationship Type="http://schemas.openxmlformats.org/officeDocument/2006/relationships/notesMaster" Target="/ppt/notesMasters/notesMaster1.xml" Id="Ra9f94256f12341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130ebbf67f409a" /><Relationship Type="http://schemas.openxmlformats.org/officeDocument/2006/relationships/notesMaster" Target="/ppt/notesMasters/notesMaster1.xml" Id="R7df398d98d284d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c9d7c60bc4d56" /><Relationship Type="http://schemas.openxmlformats.org/officeDocument/2006/relationships/notesMaster" Target="/ppt/notesMasters/notesMaster1.xml" Id="Rdaa081c04d164a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5df72033634f39" /><Relationship Type="http://schemas.openxmlformats.org/officeDocument/2006/relationships/notesMaster" Target="/ppt/notesMasters/notesMaster1.xml" Id="R91c7936843e64e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804cd706cc4ce4" /><Relationship Type="http://schemas.openxmlformats.org/officeDocument/2006/relationships/notesMaster" Target="/ppt/notesMasters/notesMaster1.xml" Id="Rf67405ef6d7c41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1c22fad3f44c0b" /><Relationship Type="http://schemas.openxmlformats.org/officeDocument/2006/relationships/notesMaster" Target="/ppt/notesMasters/notesMaster1.xml" Id="R9866461a3bd249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4e9310ec964e8c" /><Relationship Type="http://schemas.openxmlformats.org/officeDocument/2006/relationships/notesMaster" Target="/ppt/notesMasters/notesMaster1.xml" Id="R0c43456c3eeb42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479928cb3c420f" /><Relationship Type="http://schemas.openxmlformats.org/officeDocument/2006/relationships/notesMaster" Target="/ppt/notesMasters/notesMaster1.xml" Id="R8ffca1b3924b4b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43b917c5a34aba" /><Relationship Type="http://schemas.openxmlformats.org/officeDocument/2006/relationships/notesMaster" Target="/ppt/notesMasters/notesMaster1.xml" Id="R25b2962e17ad4a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6d58946a684aac" /><Relationship Type="http://schemas.openxmlformats.org/officeDocument/2006/relationships/notesMaster" Target="/ppt/notesMasters/notesMaster1.xml" Id="Rcdc5c9e2eda349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90efe337134cb7" /><Relationship Type="http://schemas.openxmlformats.org/officeDocument/2006/relationships/notesMaster" Target="/ppt/notesMasters/notesMaster1.xml" Id="R1b36f0e2c30a46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bde3a8f8c44e25" /><Relationship Type="http://schemas.openxmlformats.org/officeDocument/2006/relationships/notesMaster" Target="/ppt/notesMasters/notesMaster1.xml" Id="R8f03a305776d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36d370fc94b0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a6d4a428ec48cc" /><Relationship Type="http://schemas.openxmlformats.org/officeDocument/2006/relationships/slideLayout" Target="/ppt/slideLayouts/slideLayout2.xml" Id="Rae61202e9108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1202e9108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4f2078fbb74da1" /><Relationship Type="http://schemas.openxmlformats.org/officeDocument/2006/relationships/image" Target="/ppt/media/image.jpeg" Id="Rbb4ba081a5744d5c" /><Relationship Type="http://schemas.openxmlformats.org/officeDocument/2006/relationships/notesSlide" Target="/ppt/notesSlides/notesSlide1.xml" Id="R01ffbf483f264d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ef6cfd89b4b20" /><Relationship Type="http://schemas.openxmlformats.org/officeDocument/2006/relationships/notesSlide" Target="/ppt/notesSlides/notesSlide2.xml" Id="Rac431cb44294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87d9b7f5441fd" /><Relationship Type="http://schemas.openxmlformats.org/officeDocument/2006/relationships/notesSlide" Target="/ppt/notesSlides/notesSlide3.xml" Id="R6599c3381395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29003aa3de4487" /><Relationship Type="http://schemas.openxmlformats.org/officeDocument/2006/relationships/notesSlide" Target="/ppt/notesSlides/notesSlide4.xml" Id="Rf63b990454f84e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40bab32db492c" /><Relationship Type="http://schemas.openxmlformats.org/officeDocument/2006/relationships/notesSlide" Target="/ppt/notesSlides/notesSlide5.xml" Id="R8a1f825bd9e8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489928f0445b1" /><Relationship Type="http://schemas.openxmlformats.org/officeDocument/2006/relationships/image" Target="/ppt/media/image2.jpeg" Id="Ra3fbbdedcfdb4b9f" /><Relationship Type="http://schemas.openxmlformats.org/officeDocument/2006/relationships/notesSlide" Target="/ppt/notesSlides/notesSlide6.xml" Id="R9dd60b469055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4a5b3c3fb49a4" /><Relationship Type="http://schemas.openxmlformats.org/officeDocument/2006/relationships/image" Target="/ppt/media/image3.jpeg" Id="R1e66a908b1914250" /><Relationship Type="http://schemas.openxmlformats.org/officeDocument/2006/relationships/notesSlide" Target="/ppt/notesSlides/notesSlide7.xml" Id="R6f7ab3b73d4d42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8d234f38024cf8" /><Relationship Type="http://schemas.openxmlformats.org/officeDocument/2006/relationships/notesSlide" Target="/ppt/notesSlides/notesSlide8.xml" Id="R862d5418982e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29838a16ef4fc2" /><Relationship Type="http://schemas.openxmlformats.org/officeDocument/2006/relationships/notesSlide" Target="/ppt/notesSlides/notesSlide9.xml" Id="R5a03365ccffd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a5618c1a294cd5" /><Relationship Type="http://schemas.openxmlformats.org/officeDocument/2006/relationships/notesSlide" Target="/ppt/notesSlides/notesSlide10.xml" Id="R0a6269ef0d9a4f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bfb5ef50d4718" /><Relationship Type="http://schemas.openxmlformats.org/officeDocument/2006/relationships/notesSlide" Target="/ppt/notesSlides/notesSlide11.xml" Id="Rd9e2baa094c84e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a6f247f34438a" /><Relationship Type="http://schemas.openxmlformats.org/officeDocument/2006/relationships/notesSlide" Target="/ppt/notesSlides/notesSlide12.xml" Id="Rf4954a3e583e41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9a87b5c29457c" /><Relationship Type="http://schemas.openxmlformats.org/officeDocument/2006/relationships/notesSlide" Target="/ppt/notesSlides/notesSlide13.xml" Id="Rc2ad5abda1db42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ee712278d4df9" /><Relationship Type="http://schemas.openxmlformats.org/officeDocument/2006/relationships/notesSlide" Target="/ppt/notesSlides/notesSlide14.xml" Id="R3d9a1de13a2c4d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8a8e6caf4c4f27" /><Relationship Type="http://schemas.openxmlformats.org/officeDocument/2006/relationships/notesSlide" Target="/ppt/notesSlides/notesSlide15.xml" Id="R14409e2638d94f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41968-AC11-4546-9C38-28694C82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2D151-6904-464A-96E3-BF836A01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4920A-8A39-4FDE-B1C9-042D1C43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1540E-D7F5-42C6-83E0-65143FBA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0F4CC-F3FD-4C55-8C61-C207644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C54AD-1325-4C44-9FFB-B1C62F7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مشروع تخرج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870EA-5854-4383-B886-26D72E8F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منصة FAMOUS GAMING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192C6-5A67-44D9-8F0D-3E110F0C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65188-D41B-4C1F-8CF5-3EB37A13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منصة رقمية متكاملة لإدارة تجربة مركز الألعاب من الحجز حتى المتابعة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25A42-6AAE-4456-8BAD-48CAD612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هذا المشروع ليس مجرد موقع تعريفي، بل نظام ويب متكامل يجمع بين الحجز وطلبات المتجر ومحاكاة الدفع والإشعارات والولاء ولوحة الإدارة في رحلة تشغيلية واحدة مترابطة.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C1A2A-0DF1-439A-965E-F2E2A49D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8E84E-67F4-441F-88DF-888F846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نظام الحجز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0CBD5-D52C-49EF-94A9-2B936040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359CB-8D08-4158-AA0A-00BE467D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المتجر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C2130-BEE6-41D3-A14C-8160E49F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F5FA9-3359-4E9A-BCFB-BD5F8373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الإدارة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55144-A3DF-43E4-8444-035DF800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34F39-9805-46E3-BA27-C656141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محاكاة الدفع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7CB74-17CA-4D96-8E12-D312C62E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76350"/>
            <a:ext cx="49530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5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ba081a5744d5c"/>
          <a:srcRect xmlns:a="http://schemas.openxmlformats.org/drawingml/2006/main" l="16391" t="0" r="16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352550"/>
            <a:ext cx="4800600" cy="37338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72B6A-7E01-43B7-A969-EDA76900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C5ACF-06D2-4E71-9012-99F97B07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تجربة ألعاب احترافية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DDD67-3088-481A-8BC9-7637D09D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8EEFF"/>
                </a:solidFill>
                <a:latin typeface="Arial"/>
                <a:ea typeface="Arial"/>
                <a:cs typeface="Arial"/>
              </a:rPr>
              <a:t>واجهة عميل مرتبطة مباشرة بالتشغيل والإدارة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D173E-A444-45E6-A659-9A79175B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F7ADE-23C2-4823-886E-042033EF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A98ED-7BF1-487B-A9BA-0159F40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الفكرة الأساسية: تحويل مركز الألعاب من خدمة تقليدية إلى رحلة رقمية قابلة للقياس والمتابعة والتحسين.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DFDA7-A951-4E63-9025-65DCFAC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97187-A1D9-4610-8FA9-102AF2C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FAMOUS GAMING | نظرة عامة على المشروع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428178-E703-4FA7-A219-F167DC6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01</a:t>
            </a:r>
          </a:p>
        </p:txBody>
      </p:sp>
    </p:spTree>
    <p:extLst>
      <p:ext uri="{BB962C8B-B14F-4D97-AF65-F5344CB8AC3E}">
        <p14:creationId xmlns:p14="http://schemas.microsoft.com/office/powerpoint/2010/main" val="15009899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0787E-EDC8-4769-8964-BC634EBD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49EF1-6B3E-4C1E-AFBB-78B5951A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3F445-C613-439F-BE73-3AC83BE1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F4E26-622C-4ECA-BAFA-1DBAA500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730D-88F2-4C19-9B31-60540C5E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B7B57-CA50-45BC-B400-E0CF0F56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خارطة التقديم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87D34-ED18-441A-A105-4D849B21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خطة العرض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F5C06-05BD-4DB7-97E0-8243885E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050BC-364B-4835-ADB6-D32042D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192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06A4D-D690-44AC-B0ED-248D4EA6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219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188EC-E6AF-4F02-B297-FE4953FF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90650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الجزء الأول | البعد التجاري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33295-66EC-4F6B-A6E7-852ADC8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30289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1. المشكلة واحتياج السوق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2. لماذا الفكرة مهمة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3. القيمة للعميل والمالك والموظفين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4. النظرة الإيرادية والتشغيلية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156C6-B877-4D3E-81A2-8738800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192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9B455-A558-4546-9F10-1B3779C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112AB-8BDD-42A6-858F-133BC93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90650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الجزء الثاني | رحلة المنتج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5A7BB-7089-4D85-953C-7226296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30289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5. تدفق الحجز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6. المتجر والإضافات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7. منطق الدفع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8. الإشعارات والتذاكر والحساب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30C89-E9F8-4332-BEE8-6E510C80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F84A5-51EB-4509-A8F2-AE2DC4B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219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4A082-FF47-4444-8954-071838D9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الجزء الثالث | البعد التقني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01519-0ED4-46E4-9304-C98670E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0289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9. لوحة الإدارة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10. الهيكلية وقاعدة البيانات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11. الأمان والتحقق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12. الخاتمة والأثر والتوسع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0D639-5CD8-4E87-8A50-84EBDCFD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55855-C6A2-49DF-A235-5E679E6A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تركيز بزنس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25EB3-FDED-43D9-8FD3-8DAA1F3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A088E-5D12-4619-B6A1-2070F22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جاهز للديمو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B06BCB-12F3-44D7-9232-F43C5B0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44CB7-DFB5-4D8F-89B4-C9A6FF3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إثبات تقني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6A91C7-2780-4078-85B5-D914B0F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5EC38A-37B6-4180-AE53-1D1378F7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هيكل عرض لمدة 40 دقيقة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F0814-D414-4F4F-9E91-33C7618D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02</a:t>
            </a:r>
          </a:p>
        </p:txBody>
      </p:sp>
    </p:spTree>
    <p:extLst>
      <p:ext uri="{BB962C8B-B14F-4D97-AF65-F5344CB8AC3E}">
        <p14:creationId xmlns:p14="http://schemas.microsoft.com/office/powerpoint/2010/main" val="17923554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C74B0-0AD4-4632-A17C-337F8DDC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B0B1B-F2A4-4717-BB67-F015AFA4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33BA7-2C2D-43C5-835D-8AE12E78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2E0D8-144D-42E3-AEB4-CDC8513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126AC-4DA9-453E-A8E1-2004F59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B2FFF-A326-4471-AB9A-296A47D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لماذا هذا المشروع موجود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F49BF-56BB-45DE-8AF6-070CBF49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المشكلة التي يعالجها المشروع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26494-838C-4FB9-B95D-122B222D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419A4-7E05-423A-B015-E88D513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623F9-C614-426E-B259-3563BFC1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335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93520-0112-42EA-8C63-F558E77E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صعوبة الحجز اليدوي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B93CD-2777-476B-9196-E512803C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كثير من مراكز الألعاب تعتمد على الاتصالات أو الرسائل أو السؤال المباشر لمعرفة توفر الغرف، وهذا يسبب تأخيرًا وإرباكًا وضياع فرص بيع.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3CDB9-A376-4792-9358-BCC6BB9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53DD7-5277-498B-BFE6-BB7F252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335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54931-F299-44E7-8706-B5B886E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049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ضعف الرؤية التشغيلية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C308C-4055-4180-ADC3-2C00357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من دون نظام منظم، يصبح من الصعب على المالك متابعة إشغال الغرف وحالات الدفع والشكاوى والنشاط اليومي من مكان واحد.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FABEF-AC4D-4AB2-B849-4814DEE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DA303-741F-43A1-B3E7-B1D216D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335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C5112-3134-43E5-AA7E-B10368C1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ضياع فرص البيع الإضافي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D7276-3181-4E75-8965-629158C1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المأكولات والملحقات ومنتجات المتجر غالبًا تباع بشكل منفصل بدل أن تكون جزءًا من نفس رحلة العميل.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CDBEB-9D20-4E45-80C4-0738F56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5334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B85FE-3383-44BB-AFFD-E3A5F6A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5052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8DE31-6B5A-4097-BF66-EC9B7C1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497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إذا بقي العمل يدويًا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853A7-C61D-452B-9AC9-AD6DDF9B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49720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خدمة أبطأ وثقة أقل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تعارضات أكثر في الحجوزات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صعوبة في مطابقة الدفع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غياب سجل عميل موحد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تراجع فرص البيع والعودة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FBF80-3F9C-4A47-BEE1-E86CC265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5334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5F79E-4492-4576-8773-0A7F568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6D513-2E1E-4F86-8C96-E280E37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97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الفرصة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DB183-5EC6-46AA-AFF8-10ED94CC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720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بناء منصة تتصرف كمحرك تشغيل كامل، وليس مجرد صفحة حجز؛ نظام يدعم الاكتشاف والحجز والدفع والدعم والإدارة ضمن مسار أعمال واحد.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8123B-A932-493F-BB64-6639EC35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911B1-DE01-43AB-98BB-66A44E5D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2F9882-BCE4-4683-9154-192805C5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قبل النظام: ثلاث مكالمات لمعرفة إذا كانت الغرفة متاحة. بعد النظام: ثلاث نقرات فقط.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E401AB-F587-4AF5-A135-78CE03A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B9B837-C832-4408-85E1-DC72CF57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صياغة المشكلة التجارية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06955-F4E0-4937-AC69-723DF367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03</a:t>
            </a:r>
          </a:p>
        </p:txBody>
      </p:sp>
    </p:spTree>
    <p:extLst>
      <p:ext uri="{BB962C8B-B14F-4D97-AF65-F5344CB8AC3E}">
        <p14:creationId xmlns:p14="http://schemas.microsoft.com/office/powerpoint/2010/main" val="2325384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70139-B4EA-49AF-A21B-32A6C82B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060F9-5B86-4B0F-B49E-3ADD16F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6D9B5-7F08-4472-A6E1-82F3F69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82C03-7100-4D5C-8A7B-094EFFAE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972B-FA91-471D-B27F-363A7799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23AC6-C8DA-4657-9CF3-9FAEA4CC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وحدات المنصة حين تعمل معًا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B8327-E329-41EB-AC5D-676EE477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الحل المقترح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34027-CBD2-404C-A127-7A0734C0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AE704-8DE6-4C12-AF49-0042E57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4B97D-E8A7-4385-9753-B92BF5F8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2F6F2-8301-4F9E-8D5E-213DB970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الموقع العام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64F5F-C968-46C5-B5D4-EC2B0BF3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2114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تعريف بالعلامة، وعرض للخدمات، ورؤية الغرف، ونقاط التواصل، وتجربة متعددة اللغة.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6F2A0-C0E0-4148-A7C8-9CA0101F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B446A-0DD2-48F7-8727-56A40F3B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DC7ED-694B-4D79-A0AE-D1CABB9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منطقة المستخدم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E7195-9E41-4776-9E53-A35C1273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114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الحجز، والسلة، ومحاكاة الدفع، والملف الشخصي، والإشعارات، والتذاكر، والولاء، وسجل الطلبات.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EC132-3AE6-4516-82DA-7EB4FFE4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5438E-79B1-403F-A4F2-BFA2673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F0491-C82B-4DF0-9BCB-756556D3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049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وحدة المتجر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81650-EF94-4F4A-AB36-CFADA6C7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114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منتجات، وتصنيفات، وشراء مرتبط بالمخزون، وسلة، ومتابعة للطلبات.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AEA54-8DD6-4AF0-9560-4FBF4EB6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8A3D9-74F6-4C6A-835E-DAD34B4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1EF7A-6FC8-43D2-A66B-78E80359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لوحة الإدارة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BC461-F10A-43FD-8379-492E7EA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114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إدارة الغرف، والحجوزات، والطلبات، والمدفوعات، والشكاوى، والموظفين، والإشعارات الداخلية.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44047-559F-4B48-A6FC-1A4939D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6500F-8242-4FE5-8896-F415CD0B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C1E96-204C-4D95-A996-8234E04B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011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سلسلة القيمة عبر الرحلة الكاملة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7DB984-F5B4-4C16-B660-B68FC96A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87F6E-5296-4280-A773-9AAA7B66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950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التعرف على الخدمة ثم فحص الغرف ثم حجز الجلسة ثم إضافة مأكولات أو منتجات ثم اختيار الدفع ثم استلام التذكرة ثم المتابعة عند الحاجة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FEF87-7019-4A79-A7AA-92EB4204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872DE-227D-456C-9ED7-076A12D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950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كل خطوة تحدّث قاعدة البيانات وتظهر للطرف المناسب: عميل أو أدمن أو موظف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34BB7-BB16-4E60-899F-BC0852F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953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B97CC-4980-4251-9134-0E7A5601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950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المنصة تصنع مصدرًا واحدًا للحقيقة بدل الصفحات المنفصلة والسجلات اليدوية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B6FCD-963A-41E0-8061-0813BEFF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56735-FE28-41D5-AB84-5D906ED8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رؤية الحل على مستوى النظام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55D35-8E59-4655-9345-2C17198B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04</a:t>
            </a:r>
          </a:p>
        </p:txBody>
      </p:sp>
    </p:spTree>
    <p:extLst>
      <p:ext uri="{BB962C8B-B14F-4D97-AF65-F5344CB8AC3E}">
        <p14:creationId xmlns:p14="http://schemas.microsoft.com/office/powerpoint/2010/main" val="9344595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C0F1C-983A-4F67-972A-20B7F00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61819-2B0A-4FD8-B7F3-7B1E0E8E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0CC9D-BE3C-4B91-842E-440692A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8EB65-4635-45EC-B380-9A21A776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14008-D792-40B7-87C9-B683BBAE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70439-2F05-4418-A04B-746EB62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كيف يعيش المستخدم التجربة من البداية للنهاية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7797B-D38A-4C22-9849-3F32B384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رحلة العميل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EF327-5AF6-4BEA-ADBA-9982B67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78BA9-14E2-4D26-BB22-3A89CC01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AF3DE-E425-4331-A534-9A71CA02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E5826-22FF-4B86-87E0-FC06E3B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310D9-564C-4974-A274-4035DB6F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الاكتشاف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0EB67-CE8B-42EF-86F3-3FAE528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يدخل المستخدم إلى الموقع ويفهم فكرة المركز ويبدأ باستكشاف الغرف والخدمات.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3782B-E4A6-4BA6-A311-50213BF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DB1F7-9693-4597-89C6-95DE7967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85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626F5-9BE7-41A7-A62C-DC7DF459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288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EE52B-3184-41C9-B395-D05C300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الحجز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45E5B-362F-448D-B930-CBB9C02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يحدد المستخدم الغرفة والتاريخ والوقت والمدة مع التحقق الفوري من التوفر.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00087-E61A-48CC-BD84-A3E8CE7A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27AEB-2C36-44B6-8DCC-C9A70CD8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85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40B54-6DDC-4F4C-82CD-28960251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288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F0CCD-78F0-4141-A974-AE2FB3E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الإضافة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0D87E-C0ED-47E2-A7AA-E193BCCA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يمكنه إضافة وجبات خفيفة أو مشروبات أو مشتريات متجر ضمن نفس الرحلة.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F4906-6D78-4D56-B79E-41D62B1D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66701-B55E-4403-B5A1-0BA16AE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A8186-6438-41F9-9E1E-CC5BA97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FB4DA-BE9A-4F35-93AE-ECE51F42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الدفع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A5100-64EA-494D-BF59-4A1614E4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يختار Visa أو Cash أو CliQ بحسب منطق العمل الموجود في المنصة.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A2824-80B4-4A30-845C-655ECAC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48083-2106-4296-9AF4-72958974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F77B7-0BA3-4955-B77C-5B3F9B2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DDE210-67F1-4633-B78D-56696508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33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المتابعة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62DC7-269A-49CB-AAF9-C54117C4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تبقى التذكرة وحالة الحجز وحالة الدفع ظاهرة في صفحة حجوزاتي.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9AC080-00C4-42D3-A780-B22C3C38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4BCDD9-8C93-4D57-98D9-C1846CD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07023-7B4F-4392-95B5-EB28796F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073BF0-D386-46D4-9C7F-C157B6A5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33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العودة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9CC95-4F24-4099-82F5-0941BAE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الإشعارات ونقاط الولاء وسجل الحساب تشجع على الاستخدام المتكرر.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6FE869-0FC2-4667-85A7-A2748EC0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244838-7952-4A83-B639-FEF9951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41C73E-8784-4D10-A626-55D3C7DA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الخلاصة التجارية هنا: كلما كانت الرحلة أسهل، صار تحويل الزائر إلى عميل دائم أسهل أيضًا.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4B3DDD-09ED-4DAD-9939-B93248CD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1FA022-8A07-495D-B4F6-E8FB3C3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تجربة المستخدم كاستراتيجية أعمال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4B5BB4-7899-4E98-B59E-9871BC1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05</a:t>
            </a:r>
          </a:p>
        </p:txBody>
      </p:sp>
    </p:spTree>
    <p:extLst>
      <p:ext uri="{BB962C8B-B14F-4D97-AF65-F5344CB8AC3E}">
        <p14:creationId xmlns:p14="http://schemas.microsoft.com/office/powerpoint/2010/main" val="10412075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F3A8B-EE2B-4C63-8BBF-61F923E5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CD204-E680-428C-BA8A-8202751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586E5-EAA2-4D10-A634-3F929A57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537F1-706A-4592-94D9-79D0BA47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1C2AE-8097-45F4-AEC3-E7A04677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8F7BC-E1AE-4CD5-924D-22737639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القلب الحقيقي للمنصة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BC339-D989-4EB3-BBA4-AA4F5DA7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محرك الحجز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01C7E-8AB0-4363-8EE8-F626C01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88F3A-4ACE-48AC-B37E-3B59EED3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5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bbdedcfdb4b9f"/>
          <a:srcRect xmlns:a="http://schemas.openxmlformats.org/drawingml/2006/main" l="0" t="22545" r="0" b="22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428750"/>
            <a:ext cx="3943350" cy="3848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0B566-94BF-459E-BA54-15752A51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0C2EA-5361-4B04-A3CC-B7C0788B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تجربة حجز الغرف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5EE79-79F1-4A1B-ABAD-E852B19C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8EEFF"/>
                </a:solidFill>
                <a:latin typeface="Arial"/>
                <a:ea typeface="Arial"/>
                <a:cs typeface="Arial"/>
              </a:rPr>
              <a:t>غرف واضحة وحالة ظاهرة وإجراء مباشر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33D98-2429-407F-83AF-56A4D240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6191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88CAD-D71A-43E7-B788-0424436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5255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D359E-1E4F-4079-9A68-74DE125A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24000"/>
            <a:ext cx="582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آلية العمل الأساسية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0249B-EC7F-40FA-A4BC-1F150DFF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19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5A03D-A8C0-413F-B862-E7D03AA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اختيار الغرفة ثم التاريخ ثم وقت البداية ثم مدة الجلسة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EE207-0CC0-43AC-B9E2-FCC3AB3C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43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DB02E-6AFF-4F78-B9E0-92563A6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التحقق من التوفر بناءً على الحجوزات الموجودة مسبقًا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7D31C-43CA-493A-A1DE-3CDE6ECE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2E89E-2919-46DC-B9A2-3D3B8B49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فحص ساعات العمل ومنع أي تعارض بين الحجوزات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43C0E-5B63-48B5-A304-9EF48AA2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3D125-579A-415E-9406-B49326D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إدخال الإضافات الاختيارية داخل نفس إجمالي الحجز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96135-58B0-43B2-A812-6396B971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A9CB8-18FB-4808-BFCE-675E3BF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B19D2-7B32-4C3F-99B2-1166497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33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قيمة العميل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218F1-400D-41F3-8E3D-DFB5DAE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95750"/>
            <a:ext cx="2590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حجز أسرع، وأخطاء أقل، وحالة دفع واضحة، وتذكرة محفوظة مرتبطة بالحساب.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7F8D7-9F3D-4E93-A714-DAFE858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420178-784A-4057-A48E-3B2AEB15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623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197F4-4EBC-41DF-9D03-66C5849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قيمة المالك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FBCD4-6FB2-4174-89F1-8588281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590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سعة مضبوطة، وتعارضات أقل، وحجوزات قابلة للتتبع، وتخطيط أوضح للطلب.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F50AC-6A48-49CD-9040-9547BF75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5D455-6EE3-4153-A0C3-F0688088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لماذا الحجز أكثر من مجرد نموذج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EA5AC2-2C05-427F-9FF6-0BDCC86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06</a:t>
            </a:r>
          </a:p>
        </p:txBody>
      </p:sp>
    </p:spTree>
    <p:extLst>
      <p:ext uri="{BB962C8B-B14F-4D97-AF65-F5344CB8AC3E}">
        <p14:creationId xmlns:p14="http://schemas.microsoft.com/office/powerpoint/2010/main" val="746025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9914F-8B41-4D4E-B9DA-090349E7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B825C-B5DD-419D-9A1F-CF93289E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A8C2E-20B6-4111-8541-5E3CBEF8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371EB-3DB6-49D1-8788-F9EB2578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30997-6EA9-4429-A7DA-789888D6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09E48-95D5-4077-8289-BC5FFED2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من منصة حجز إلى منصة إيراد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12968-12C3-4002-A660-D9A3753D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المتجر والإضافات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5A1F4-6ACE-47D6-AAC4-A27B0B1F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4CA9E-69B3-4CEC-A93F-4429C15E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362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34A89-B4B3-4226-8346-9B4C39EB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144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16244-89C7-4F5B-8BEA-5EC2FC6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الأثر التجاري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CEBF8-92AC-4939-9A40-3B418059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DE8A0-06F3-47D8-9D74-FF398A0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وحدة المتجر تضيف مصدر دخل ثانٍ بجانب حجوزات الغرف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D25E1-8098-497A-A5B4-C125E13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501D5-824E-418C-B9AE-BFC80DDC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الإضافات أثناء الحجز ترفع قيمة السلة دون الحاجة لعملية منفصلة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9270F-4E97-44A9-B6FE-0D40C7E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3BBF9-99B1-42EA-8FA2-1CABB77B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الدفع المرتبط بالمخزون يبقي الجانب التجاري متصلًا بالتشغيل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7A811-5BB6-4B47-9347-9001FE5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DCD2A-AFF5-427F-BD4E-D0459344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تصنيفات المنتجات تنظم تجربة الشراء بطريقة مناسبة لبيئة الألعاب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B2F5E-912F-451F-831C-16559C77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14450"/>
            <a:ext cx="5905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5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6a908b1914250"/>
          <a:srcRect xmlns:a="http://schemas.openxmlformats.org/drawingml/2006/main" l="0" t="30408" r="0" b="30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1390650"/>
            <a:ext cx="5753100" cy="3943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33FDD-B6A9-4938-B098-7A7E27BE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0100"/>
            <a:ext cx="590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FD4C3-0D4A-4D60-AAE6-C59D0AFB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60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تجربة متجر مدمجة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B1AA3-5C0D-4F40-9205-50FA1ED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91100"/>
            <a:ext cx="560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8EEFF"/>
                </a:solidFill>
                <a:latin typeface="Arial"/>
                <a:ea typeface="Arial"/>
                <a:cs typeface="Arial"/>
              </a:rPr>
              <a:t>منتجات وسلة وتفاصيل ودفع في نفس المسار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1004B-48A9-4989-B8F9-241B059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7E945-70DB-4CB0-B8CE-F2BF4A9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FA308-57F6-43D6-A942-2ED054AC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هنا بالضبط يتوقف المشروع عن كونه موقع حجز فقط، ويبدأ كمنصة أعمال حقيقية.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0604C-C150-4899-B5C4-A7DC9D59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159E4-EE0F-406B-ABE1-8816E02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المنطق التجاري داخل رحلة المستخدم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2A6BF-28F8-4BB2-85ED-FC39FF9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07</a:t>
            </a:r>
          </a:p>
        </p:txBody>
      </p:sp>
    </p:spTree>
    <p:extLst>
      <p:ext uri="{BB962C8B-B14F-4D97-AF65-F5344CB8AC3E}">
        <p14:creationId xmlns:p14="http://schemas.microsoft.com/office/powerpoint/2010/main" val="17024419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03031-F231-495F-B491-9195EA5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8C655-DADC-44A9-A93D-22A0EB1C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27DDE-4A48-4E2B-9564-8008B26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B0AC4-69EA-4A93-825E-1C6A29FC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2323A-0D97-4806-AEED-5ADF41F7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F94AE-2D98-4037-9735-F077055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وسائل مختلفة ومنطق أعمال مختلف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00F31-441D-424B-805F-3A1993A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محاكاة الدفع والحوكمة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1072-1BB1-4F92-B6CA-AD19D434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7089F-B582-43FF-BE6B-AB1BABA0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B9AFC-1E77-4094-9A75-5E25DB63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الحالة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370BA-5395-4DB0-9821-5015AC1D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6B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6B7D"/>
                </a:solidFill>
                <a:latin typeface="Arial"/>
                <a:ea typeface="Arial"/>
                <a:cs typeface="Arial"/>
              </a:rPr>
              <a:t>متابعة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3CB90-1E67-4DC7-9011-5A8713DA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ADD7E-20DF-499B-A45A-C129C0C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المخرج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31BA0-F588-4985-AE86-A0ACA6E8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5DB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5DB1"/>
                </a:solidFill>
                <a:latin typeface="Arial"/>
                <a:ea typeface="Arial"/>
                <a:cs typeface="Arial"/>
              </a:rPr>
              <a:t>تذكرة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0C99D-3158-471A-9B89-A9230C37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5F8B7-D0E2-4F43-A618-DC42D782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الوسيلة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4208C-D4C9-4781-A30B-C9CD60F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CliQ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FBFBB-C6FA-4F0C-8CE6-218474DB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C877B-0C8A-4FE6-BE16-FAAB3733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الوسيلة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2F338-7AEF-400C-826C-EE5F2DC9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EE1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E1A6"/>
                </a:solidFill>
                <a:latin typeface="Arial"/>
                <a:ea typeface="Arial"/>
                <a:cs typeface="Arial"/>
              </a:rPr>
              <a:t>Cash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19A07-5FE7-4B3B-928D-B5CFB81E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54C53-C40E-4122-BB80-E442A4D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668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الوسيلة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64F91-CB83-4D67-996F-993BD3BB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57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Visa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77538-36FA-40FD-B949-49B8A1A9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34671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34D3C-21AB-4CC8-9C4B-9BADEDB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6098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4D382-A60D-4A86-9C67-ABC545F5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محاكاة Visa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04E2F-EB57-4606-A67B-326633D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105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هذا المسار يمثل الدفع الفوري داخل المشروع، ويعرض كيف تنتقل البيانات إلى حالة مدفوعة مباشرة عند نجاح العملية.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C98117-87E7-4BF5-AC5F-015C6E2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429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9FFF2F-2391-4A9E-833E-43EFB1C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9CC88-CBC0-4317-B4C3-96C74CC5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Cash و CliQ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42935-22F4-454B-895B-F6678FA3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3067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هاتان الوسيلتان تبقيان تحت حالة بانتظار تأكيد الدفع، لأن التحصيل الحقيقي يحتاج مراجعة إدارية، وهذا يجعل المنطق أكثر واقعية.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4AEDF-F129-4661-9956-93492618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429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4DE010-B75C-4F94-B324-D987DDF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98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82EA6-AFAA-41C7-BD84-14B0ED80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لماذا هذا مهم؟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C1AB60-98FA-478B-A3FB-979713DC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067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المنصة لا تتعامل مع كل وسائل الدفع بنفس الطريقة، بل تعكس قاعدة أعمال حقيقية: بعض المدفوعات تحتاج تأكيدًا إداريًا قبل اعتمادها.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B392A4-C86C-4387-8AD8-66877A0C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52A766-C28F-4C47-89B8-F78A3D60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حالة الدفع كحقيقة تشغيلية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335EEC-BBCC-4F9B-868D-5A683852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08</a:t>
            </a:r>
          </a:p>
        </p:txBody>
      </p:sp>
    </p:spTree>
    <p:extLst>
      <p:ext uri="{BB962C8B-B14F-4D97-AF65-F5344CB8AC3E}">
        <p14:creationId xmlns:p14="http://schemas.microsoft.com/office/powerpoint/2010/main" val="11060375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2EB4FA-A4AA-4688-A4C2-6EFD6BD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DDE04-75FF-423C-90FF-03190F2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3867A-C638-4907-B253-C876ADA7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D5ECD-246C-487A-AE3B-F6348A8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76BF-AC42-42EA-B62C-D286876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595CB-4F31-465A-9E54-8A3FF31D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الإشعارات والتذاكر والملف الشخصي والولاء والتغذية الراجعة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FA977-E4B1-4239-9254-60F25B0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طبقة الاحتفاظ بالعميل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B1846-A0F0-496F-B635-0FE55C89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49BF0-BE96-4695-89FB-889A330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71600"/>
            <a:ext cx="25336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81E1E-8761-4332-82A9-C9B6C4BE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C2691-0154-4316-BAD3-152BE464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430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حجوزاتي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121A1-78BA-4436-868F-B4B3E2D1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05000"/>
            <a:ext cx="2171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يستطيع العميل الرجوع إلى حجوزه وحالة الدفع والتذكرة من دون الحاجة إلى التواصل مع الدعم.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A21A4-728E-4183-8492-6754EA71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71600"/>
            <a:ext cx="2609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53FB8-3711-45BD-8065-F085F611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6D0E7-1E3C-481F-97D9-2518F8F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الإشعارات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75C59-39A2-406F-8D3A-20D8BD16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2479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التحديثات المهمة لا تبقى مخفية داخل قاعدة البيانات، بل تظهر عبر نظام إشعارات واضح للمستخدم والإدارة.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933B9-3D42-4B7F-B6D1-E6AF4D7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371600"/>
            <a:ext cx="2609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65289-D800-41E4-BA60-7A659B7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11108-3B63-440C-844B-5D98052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430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الولاء والملف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FA6CB-F78F-4FE2-B6AD-D5885EDD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05000"/>
            <a:ext cx="22479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النظام يخزن هوية المستخدم ونقاطه وطلباته وقيمته المستقبلية داخل بنية حساب واحدة.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BB687-3D18-4DEB-86CD-331A708C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25336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91A2A-9CE3-4F07-A39D-C5AF2BFF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8816E-419B-4393-8B6B-0C2A2BC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حلقة التغذية الراجعة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E4BBF-C4F8-4839-9EC6-39514A76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2171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الشكاوى وطلبات الدعم تمنح المنشأة قناة منظمة لتحسين الخدمة بشكل مستمر.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FD594-0CF6-471A-A7AA-B077FAAD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E2029-2A5E-4626-BBBB-AC4EE9C7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هذه الطبقة تحوّل العملية الواحدة إلى علاقة قابلة للاستمرار وإعادة الاستخدام.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46B8B7-2C3B-40C7-9074-6B3F153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676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D7FF2-2B2D-4EFA-8F93-F717856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كما ترفع الثقة لأن المستخدم يرى ما حدث قبل الحجز وأثناءه وبعده بوضوح.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E01DD-29AA-4425-9000-9F46FE53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92D92-D979-46B0-929E-44EA59D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الاحتفاظ بالعميل واستمرارية الخدمة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113E6-77FC-4E9B-8E62-9275E78B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09</a:t>
            </a:r>
          </a:p>
        </p:txBody>
      </p:sp>
    </p:spTree>
    <p:extLst>
      <p:ext uri="{BB962C8B-B14F-4D97-AF65-F5344CB8AC3E}">
        <p14:creationId xmlns:p14="http://schemas.microsoft.com/office/powerpoint/2010/main" val="9100198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C36BB-C9CE-4B8B-BBF1-416D0E6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449AC-0F8B-436E-9F8B-70B106CF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1EF4D-4750-41C6-9C8D-32F0F84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E3CE5-55E8-4349-BA6E-0FE1FC98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67AD9-AC7C-4AFD-9F7E-1900AD8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D9272-C933-40DF-8202-1F893B4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طبقة التشغيل خلف الخدمة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07403-143E-4D44-9888-917C439F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لوحة الإدارة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08D1E-74A2-4B3B-84F6-CF3F1767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6BC21-81E5-470F-942A-82286812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68342-7862-4181-A1BB-3F21A80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33500"/>
            <a:ext cx="76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B287F-BD4A-4100-B47A-52C19BF8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مجالات التشغيل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86091-05A6-4824-A335-D3435B5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05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5100F-1154-4622-9B6C-808410EA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إدارة الغرف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90281-3433-4765-B724-BAF23E1F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936B2-A554-47E6-811D-B275910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إدارة الحجوزات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3CE94-B896-4789-B7F8-5A6504DC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743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1BDA7-60CB-48E8-B6A0-07514245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منتجات المتجر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98A6D-77F0-44C6-90DB-2943709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8C911-2FEA-451F-86EA-89CB9F51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طلبات المتجر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57D2A-9976-44BD-9230-262F288A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BFF05-945C-479A-B320-EE75F548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الشكاوى والملاحظات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69E46-4E6A-49F2-AE9B-5C7FD371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B02EB-C588-468E-AC7B-4BFFCD7A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الموظفون والصلاحيات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1BE6A-0961-4B22-956E-7CD37D6B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6184E-EA08-46A3-8D5C-7FB1C25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الإشعارات والتحديثات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3A262-565A-4A1A-BA0C-C2E8074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33500"/>
            <a:ext cx="3238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29D95-1F0E-4421-924D-1B0BCDB5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3350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95E0F-504D-44B3-80BF-CDE0F26E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0495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الفائدة الإدارية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E33E47-C520-4B39-86B1-D74B14F0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66900"/>
            <a:ext cx="2876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اللوحة تحول التشغيل إلى بيانات مرئية: من حجز؟ ما الذي دُفع؟ أي غرفة مشغولة؟ ما الذي تغير في المخزون؟ وما الذي يحتاج متابعة؟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F00EC-909B-41B5-B436-9BDAFE7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3429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6FBD7-E373-41C4-BDCC-6FD83217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33350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9F39F8-A7A3-4987-8B92-583D186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منطق التحكم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5447F-858D-4C15-A59B-700CB72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3067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وسائل الدفع المعلقة يمكن اعتمادها يدويًا من قبل الأدمن، وهذا يجعل النظام قريبًا من آلية التحصيل الحقيقية.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C6E118-BDD4-4CA3-8C7D-E60B5FAF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048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8994E-05A6-4C9C-AEB4-47C2898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C672F6-EB89-4152-8E97-B9B8851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668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لماذا جانب الإدارة قوي أكاديميًا؟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B8B6DF-E4B4-4338-8627-FCD62D83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6686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لأنه يثبت أن المشروع ليس مجرد واجهة استخدام، بل يتضمن منطق إدارة، وانتقالات حالة، وتحديثات قاعدة بيانات، وصلاحيات، ودعمًا لاتخاذ القرار التشغيلي.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A8B05C-2A5B-45C3-8CA7-EA39552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05FF8-7611-4298-B8DC-6DCFCA58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الإدارة = تحكم بالنظام وليس فقط تعديل محتوى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4959D7-8EF4-4B66-97A4-8468996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10</a:t>
            </a:r>
          </a:p>
        </p:txBody>
      </p:sp>
    </p:spTree>
    <p:extLst>
      <p:ext uri="{BB962C8B-B14F-4D97-AF65-F5344CB8AC3E}">
        <p14:creationId xmlns:p14="http://schemas.microsoft.com/office/powerpoint/2010/main" val="683956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5CC09-6DBE-400E-B7DF-4982B408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316F7-1100-459A-9917-8707EB03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A169A-EA5A-48EC-9D1A-56C11AD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E30EE-56B8-4620-9D87-A5D56568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5DCD8-6366-42BD-9DBF-17F6E15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ACDD-96FE-45E8-B321-69CD32AF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كيف يصنع التطبيق قيمة للمركز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6DFDC-2135-4D98-A8E5-98807BF1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المنظور التجاري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7394E-065F-493E-B076-9F98718D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83B5E-ACBF-4ED8-A3F7-523C049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90650"/>
            <a:ext cx="3429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1B21F-9C1F-4D62-AA97-9FEC6160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9065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0B01E-441E-4744-87BE-F9539D51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مصادر الإيراد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F5A1-6537-4287-A0C9-1B1B12D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3352C-A23C-48C5-AF1B-057B182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حجوزات الغرف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F9E16-140F-4023-8278-D6498E80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67361-09DE-4E58-BC5E-677AD2C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إضافات المشروبات والسناكات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884D2-3D09-42D1-872A-66586EAC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9332C-0B34-49DD-8564-3DC28E1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طلبات منتجات المتجر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FE167-EAC7-4E19-A497-A07F9D77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40227-4E9E-4736-9F3C-C4FCDCF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ارتفاع معدل العودة عبر الولاء والحسابات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7A853-7965-4A1B-A48B-CEE52005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3429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DE601-6038-46D9-938A-83625DDA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9065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8CE05-95D6-46FD-9919-A2BBAF3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خفض التكاليف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16D3E-4C76-4100-A5CA-B1D802FC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C2F62-0F54-49C8-82CE-3C8D9715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تقليل التنسيق اليدوي في الحجز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A0D53-07D5-4EF6-A5F4-15A26D03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DFD5B-78A8-4C63-B573-953E756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تقليل تعارضات الغرف وغموض المدفوعات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482AE-72D6-4D05-BEF4-DCA27775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C2E80-7A7E-4CA6-ACA2-BE24CF6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رؤية أفضل للمخزون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5C171-7D42-4C61-8A7A-B302388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2DDAB-6601-4CFD-A054-BAEAD803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متابعة أوضح للشكاوى والدعم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A72E0-0EDF-4B1C-8B14-CD392AC1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3505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D157C-0FF5-421C-A201-DDFBA356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9065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CD04D-62E3-4CE5-A9A0-0FE6C8F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مؤشرات الأداء القابلة للقياس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67AB79-9D10-45A0-B0C2-3A5212F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E7393F-8D5B-45F8-992F-8E3AC82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حجم الحجوزات لكل غرفة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8BEFD9-25BA-4E53-861D-365B7BF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481F8-BF65-44DD-B5F5-CF850487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متوسط قيمة السلة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65A28F-6180-42B1-9178-2CD0B4C3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E0B983-8AB9-416F-9306-991534F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سرعة تأكيد الدفع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BC0337-21CB-4FF7-AF01-EA488030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EF2AE-4760-4EF7-B29A-68331F2D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سلوك العملاء المتكررين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C5A8B1-E0E3-4D39-8C6E-6191D171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64D270-1C12-4FA7-B89D-7CB83E04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دوران مخزون المتجر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17F8EF-7DC6-45AE-9488-2F0FEB55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265ECB-AFF5-429B-9490-133AD90F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446394-A9A9-4818-9000-B828709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النتيجة التجارية: التطبيق لا يرقمن الخدمة فقط، بل يحسن تحقيق الإيراد والانضباط التشغيلي.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50CC15-11A4-4030-BF95-045B05F8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EBC3F8-A1DA-4527-B0EC-9547092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القيمة التجارية أبعد من الواجهة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D03B14-4596-47B1-AAB8-345C3DB9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11</a:t>
            </a:r>
          </a:p>
        </p:txBody>
      </p:sp>
    </p:spTree>
    <p:extLst>
      <p:ext uri="{BB962C8B-B14F-4D97-AF65-F5344CB8AC3E}">
        <p14:creationId xmlns:p14="http://schemas.microsoft.com/office/powerpoint/2010/main" val="8860242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21EAD-B5D4-4FA3-81A0-42ED7CF9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AE41E-CB2C-4A25-A939-8129A8A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0040-79F6-4355-9B56-B0024D7C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3BF42-0060-4781-9A77-B9346940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40C19-F02F-4678-B6D4-045D5D9F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56AC0-4B31-42E0-A00E-2F876386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كيف تعرض النظام بسلاسة داخل الامتحان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C5BC-B497-47F6-BC0B-DE3AF4EF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مسار الديمو المقترح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0EA7F-FD92-4839-92B4-26369C44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76F30-E217-486D-9D8C-4C788A19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62AE6-C323-4DE9-9705-E32FA677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906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0263C-CC92-47A3-B880-14E1B005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68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تسلسل العرض العملي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33E11-CC99-4AA3-955D-A707A82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BA97A-EB5D-4A1A-8CCA-7D92D043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ابدأ من الصفحة الرئيسية واشرح هوية المشروع خلال 20 ثانية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1FFE3-B7AC-427B-ABEE-6A86085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53FE7-9CC3-430C-BEFA-BF2D7D18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افتح صفحة الحجز واعرض التوفر واختيار التاريخ والوقت والإضافات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DA85F-6A55-41F0-BB78-B8FDDAE2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569CA-6A56-40ED-8E57-122BA299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انتقل إلى الدفع واشرح لماذا Visa فوري بينما Cash وCliQ بانتظار التأكيد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6E214-C72B-427F-B800-1D3006F8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95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B5376-F036-45A3-9A7F-64B9CC6D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افتح صفحة حجوزاتي لإثبات أن التذكرة مرتبطة بالحساب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3B2E2-7521-4376-AD2C-A9673D1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F40EC-D541-491F-8916-AE8A00F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اعرض المتجر واشرح السلة وآلية الطلب المرتبطة بالمخزون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3A7F9-7696-4D5F-BF32-D6E81404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BCF39-13E4-49BD-A402-6D74B2A0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انتقل إلى لوحة الإدارة وأثبت كيف تُدار الحجوزات والطلبات وحالات الدفع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80764-4D83-47D0-A14A-13DD93FA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FA013-4803-4514-B5D8-592C61D4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اختم بعبارة: هذا يثبت أن المشروع يعمل كتدفق متكامل وليس صفحات منفصلة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F16BC-C80A-483C-B6FC-AD456BA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96964-28C6-4AF7-8D73-B5C9C550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استراتيجية ديمو تعطي انطباعًا قويًا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2ACBB-B3A7-4CE6-B427-2FDDB841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12</a:t>
            </a:r>
          </a:p>
        </p:txBody>
      </p:sp>
    </p:spTree>
    <p:extLst>
      <p:ext uri="{BB962C8B-B14F-4D97-AF65-F5344CB8AC3E}">
        <p14:creationId xmlns:p14="http://schemas.microsoft.com/office/powerpoint/2010/main" val="13839087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FDABE-65DA-46B0-A1A5-EFFD0B8D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E3720-286C-459D-BDC2-903FB154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B37A2-C5CA-47DA-8FD4-8D39A16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B8526-8E96-4D0E-BE19-9BA7E31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A46A4-DBCF-4CE7-B338-95524FD4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DD957-0FA3-4A6F-BCE2-ED3E1C08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كيف ينظم النظام داخليًا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F83D5-39AD-4B88-AB50-EE3C28CB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الهيكلية التقنية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3B494-0857-4960-A413-12FC9280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FC0F6-E6EC-4978-ACFF-EACA8256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09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14460-4232-4872-A0CE-3FE67EA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EE995-F619-4D16-A53A-AF1F16E3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811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طبقة العرض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5108F-6190-4D15-97D9-D0710EF1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43100"/>
            <a:ext cx="2019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صفحات عامة وصفحات مستخدم وصفحات إدارة، ضمن لغة تصميم موحدة وتنقل يعتمد على الدور.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8B9C9-1E1D-40FA-9564-BCEDFA2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5F10C-1F5E-4CBB-95A6-F9CB421F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F6142-3E56-4407-8BCD-D97039ED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811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منطق التطبيق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4D5B2-81DB-4D3E-A881-3EBCA8C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2019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دوال PHP مشتركة تتعامل مع التحقق، وقواعد الحجز، والدفع، والإشعارات، وتحديثات المخزون، وأدوات الحساب.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8E03D-FD26-45AD-88FB-6A90F9FA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09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39B21-5912-4E49-B5F0-C8740EBF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42C00-6D84-43AC-AD5F-CC11CC2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811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طبقة البيانات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4A072-A2BA-40CA-B9AB-0F8600AA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43100"/>
            <a:ext cx="2019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MySQL تخزن المستخدمين والغرف والحجوزات وعناصر الحجز وطلبات المتجر وعناصر الطلبات والشكاوى والإشعارات وبيانات الإدارة.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44AF4-2D1B-425E-8FAE-612726A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04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B1C39-D58D-4D93-8A0F-F8D2817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85D61-D8D7-461A-82A3-E1F43C52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هيكل المشروع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53300-BF6B-4F06-9F3E-1C7C1CA5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general/ للصفحات العامة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user/ لمسارات العميل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admin/ لأدوات الإدارة</a:t>
            </a:r>
          </a:p>
          <a:p xmlns:a="http://schemas.openxmlformats.org/drawingml/2006/main">
            <a:pPr algn="r">
              <a:defRPr sz="1050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includes/ للإعدادات والترجمة والمنطق المشترك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24F03-9CC0-4BC0-8AC1-29931C5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67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68A836-45EA-4389-90E4-72D82DAA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5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هذه الهيكلية بسيطة بما يكفي للفهم، لكنها غنية بما يكفي لإظهار تفكير حقيقي في تصميم الأنظمة.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4FE56-299E-491D-9DFD-307DC704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753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6BA2A-EBC3-471D-97C0-E6B7418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5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كما أنها تجعل المشروع أسهل في الصيانة والتوسعة مستقبلًا.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C7A43-DBAE-41A6-84FE-5382C9BC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2313F-8B02-4B7C-A3F9-E492D996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من المجلدات إلى المسؤوليات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4B02A3-2761-467B-BF25-7D119965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13</a:t>
            </a:r>
          </a:p>
        </p:txBody>
      </p:sp>
    </p:spTree>
    <p:extLst>
      <p:ext uri="{BB962C8B-B14F-4D97-AF65-F5344CB8AC3E}">
        <p14:creationId xmlns:p14="http://schemas.microsoft.com/office/powerpoint/2010/main" val="6742299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DFE12-5419-4664-8CF2-22EE50B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5D4C8-2312-42E0-8D05-BA3230F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F985-758B-4224-AA05-77015E88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CC046-A517-461F-A844-28EC5879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B1D38-52F8-4909-8230-1DA9F63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F544-DBB2-4BDF-958D-0D6926C6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ما الذي يجعل النظام قويًا أكاديميًا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D2688-AE4C-43F5-9490-D6A39363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البيانات والأمان والاعتمادية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F3923-F0AA-414D-88BA-29D2E4D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2F511-CD0F-418B-8DA5-3739FED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3524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09826-6417-4583-869B-3EFD859B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525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E828D-FFBD-4BAD-AEC4-2893BD0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6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منطق قاعدة البيانات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15785-ACC3-43DF-8ED5-C0E6886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38B1B-AE87-4873-AF01-FE7378A2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ربط الحجوزات والطلبات بحساب المستخدم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1A592-B07E-4518-BECF-10F2E6EE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62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E1F55-BCA9-4120-B153-29AC2E3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التحقق من الحجز وفق الغرفة والتوفر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92F23-55A9-47D3-8BC6-EEA289A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4643E-AACC-44ED-A736-3FC7F816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تحديث المخزون بعد عمليات الشراء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5377C-3305-4766-B9B1-5F9609F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C0AFD-23C5-46D7-9FF8-D7EEF29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تمييز الحالات بين مدفوع ومعلق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96DEA-585A-4B08-8307-401482A9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63A27-3B7E-48D1-8A81-CF373B7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تسجيل الإشعارات كأحداث نظام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A7D89-108A-41D4-AD80-CFB1B8F3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3524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33171-3700-4BE5-9905-7879CCB8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525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826EB-415D-489F-B3BD-4572C001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6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خيارات الأمان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20592-0978-433E-8704-14823FF5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6B84B-B894-46BB-BEE6-74808732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استخدام Prepared Statements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2775E-1B7B-461C-B35C-F5B1823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62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84216-68B3-4ABA-9E07-B04C26B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تشفير كلمات المرور عبر password_hash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109B7-D574-4604-B5FC-9A243149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140B7-8370-4961-9C68-AFA83C40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التحقق من التواريخ والأرقام ومنطق الحجز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B29E07-7099-44B0-9B12-C908EE5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06981E-3CC4-49FE-89EA-148F932E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فحوصات صلاحيات حسب الدور داخل الإدارة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4CE4F5-F09F-4E80-A3B9-F3F9C41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35240-4FB7-4157-80C0-ACA67F2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استرجاع كلمة المرور عبر Token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119A53-BEEF-40A4-9BC2-61F39E1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3505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E0EEC-A756-47E6-AFE8-FE0EBAD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AA5D34-8107-40CF-88BB-205C3349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منطق الاعتمادية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064B8E-4609-40BE-B144-242E30D9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5239D4-95F7-4202-B445-E6AF390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توحيد الحالات بين الحجز وطلبات المتجر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B031CF-9D86-4FC0-ADDA-9D0D1728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B9F90B-9B24-47F9-B535-4F15E5B5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مسار واضح لتأكيد الدفعات المعلقة من الإدارة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D164E-FC64-4CB9-971D-54D114FD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D351CB-41B1-4504-BCA1-A952DAEE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دوال مساعدة مركزية للقواعد المشتركة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FB27C9-8093-4FA1-B3FC-321131D4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ABCBA0-51A5-4416-BBBC-B13E95A0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تتبع داخلي للإشعارات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D94D04-6961-4612-B691-9AA67594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4DFA7A-3E6F-4FCC-B356-CA36BA73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مساعدات توافق وتهيئة للبنية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045BA2-0993-4043-88F0-4C9B323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7F261B-B72E-4CC9-87CD-58BC5CD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لماذا هذا العمل أكبر من مجرد واجهات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CDF29F-2962-4DE2-8B94-4DF5B68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14</a:t>
            </a:r>
          </a:p>
        </p:txBody>
      </p:sp>
    </p:spTree>
    <p:extLst>
      <p:ext uri="{BB962C8B-B14F-4D97-AF65-F5344CB8AC3E}">
        <p14:creationId xmlns:p14="http://schemas.microsoft.com/office/powerpoint/2010/main" val="20659100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53914-F404-44EE-B78B-02BD148B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EC926-6C43-4295-8A27-529EA483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B31FD-65D7-4DAB-A582-50E476F4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DD16A-62A8-4DB2-AECA-9A34AF04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82894-AB65-4D16-9CBC-400976B9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2E3FA-9728-4568-BD0F-9689DECB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D8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D8FF"/>
                </a:solidFill>
                <a:latin typeface="Arial"/>
                <a:ea typeface="Arial"/>
                <a:cs typeface="Arial"/>
              </a:rPr>
              <a:t>لماذا يستحق هذا المشروع علامة كاملة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B727A-BF13-4328-8FF2-FB34BD1A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الخلاصة النهائية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31D09-78A0-4F4A-9D94-DC36FEB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FD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A8092-3015-4567-AAD1-1F6EEE5F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097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FAMOUS GAMING ليس موقعًا عاديًا، بل منصة خدمة مترابطة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F7151-5ADD-4D03-9A8C-846E5F51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9BF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FD4"/>
                </a:solidFill>
                <a:latin typeface="Arial"/>
                <a:ea typeface="Arial"/>
                <a:cs typeface="Arial"/>
              </a:rPr>
              <a:t>هو مشروع أكاديمي متكامل يجمع بين منطق الأعمال وتجربة المستخدم والتشغيل الإداري والتنفيذ التقني في نظام واحد.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62141-BF37-4367-B85D-F498448F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FE750-A237-44F4-835E-625A8E8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607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يعالج مشكلة أعمال حقيقية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29EB8-6214-4A89-B90F-20DC7C8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BB18B-2835-4779-9349-A93D3291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607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يدعم رحلة العميل والإدارة معًا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1E433-4EDB-42FC-A8CB-872A26C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5063E-BCC8-4E40-85CB-4166630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52900"/>
            <a:ext cx="607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يشمل الحجز والمتجر والدفع والإشعارات ومنطق التحكم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738A7-2BC4-4F07-A310-DAED24DF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2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7558-883F-4D0E-A1BC-E1802B50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607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يظهر تفكيرًا قويًا في قاعدة البيانات والتحقق والأمان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45694-C736-493F-A9AC-2260D4A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29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10920-1995-45DD-AD04-01520B11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607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جاهز للعرض وقابل للتوسع مستقبلًا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85DA6-4839-4A2A-9108-2E5E405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919B4-7C8D-49D1-8D3A-AEA5F9A3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58321-1DBC-40BA-A422-724F51C1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EE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EEFF"/>
                </a:solidFill>
                <a:latin typeface="Arial"/>
                <a:ea typeface="Arial"/>
                <a:cs typeface="Arial"/>
              </a:rPr>
              <a:t>أفضل جملة ختامية: نحن لم نبنِ ميزات منفصلة، بل بنينا نظام تشغيل متكاملًا ومترابطًا.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7B502-7AA7-4AFC-99F7-F5AD551E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5DB36-BB2F-4983-911E-1D694DA7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شكرًا لكم | أسئلة ونقاش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095DC-E6B6-42EE-A3C2-F2C15D1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F95AB"/>
                </a:solidFill>
                <a:latin typeface="Arial"/>
                <a:ea typeface="Arial"/>
                <a:cs typeface="Arial"/>
              </a:rPr>
              <a:t>الشريحة 15</a:t>
            </a:r>
          </a:p>
        </p:txBody>
      </p:sp>
    </p:spTree>
    <p:extLst>
      <p:ext uri="{BB962C8B-B14F-4D97-AF65-F5344CB8AC3E}">
        <p14:creationId xmlns:p14="http://schemas.microsoft.com/office/powerpoint/2010/main" val="911624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2026-06-03T12:44:00.1330000Z</dcterms:created>
  <dcterms:modified xsi:type="dcterms:W3CDTF">2026-06-03T12:44:00.1330000Z</dcterms:modified>
</coreProperties>
</file>